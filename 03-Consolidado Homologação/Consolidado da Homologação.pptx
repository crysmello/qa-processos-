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1748" r:id="rId2"/>
    <p:sldId id="257" r:id="rId3"/>
    <p:sldId id="258" r:id="rId4"/>
    <p:sldId id="259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94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KPI. Despriorizados sao casos validos fora do escopo desta sprint por decisao do PO. Status No-Go e baseado nos criterios de saida definidos na Sprint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Gestao de Sinistros e o modulo critico (14 falhas, 81%). Renovacao Automatica tambem abaixo do threshold. Priorizar esses dois no reteste.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 nos 3 criticos: DEF-001 risco SUSEP, DEF-002 prejuizo financeiro, DEF-005 risco de fraude. Qualquer um deles basta para travar o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5-Why revela que a causa raiz nao e tecnica, e de processo. Falta um DoR com checklist de impacto para integracoes financeiras. A acao corretiva vai alem do bugfix.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rcRect t="2297" b="1344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B6F4B84-877A-FB38-79E6-69EA7DB463A3}"/>
              </a:ext>
            </a:extLst>
          </p:cNvPr>
          <p:cNvSpPr txBox="1">
            <a:spLocks/>
          </p:cNvSpPr>
          <p:nvPr/>
        </p:nvSpPr>
        <p:spPr>
          <a:xfrm>
            <a:off x="-8242" y="-3122"/>
            <a:ext cx="9144000" cy="514349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 dirty="0"/>
          </a:p>
        </p:txBody>
      </p:sp>
      <p:sp>
        <p:nvSpPr>
          <p:cNvPr id="4" name="Título 6">
            <a:extLst>
              <a:ext uri="{FF2B5EF4-FFF2-40B4-BE49-F238E27FC236}">
                <a16:creationId xmlns:a16="http://schemas.microsoft.com/office/drawing/2014/main" id="{9BA712F5-AD56-1C50-66DA-FCEBBAD832EB}"/>
              </a:ext>
            </a:extLst>
          </p:cNvPr>
          <p:cNvSpPr txBox="1">
            <a:spLocks/>
          </p:cNvSpPr>
          <p:nvPr/>
        </p:nvSpPr>
        <p:spPr bwMode="gray">
          <a:xfrm>
            <a:off x="377378" y="314192"/>
            <a:ext cx="4308750" cy="508844"/>
          </a:xfrm>
          <a:prstGeom prst="rect">
            <a:avLst/>
          </a:prstGeom>
        </p:spPr>
        <p:txBody>
          <a:bodyPr vert="horz" lIns="0" tIns="34290" rIns="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>
                <a:solidFill>
                  <a:srgbClr val="F8F8F8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ES" sz="2700" b="1" dirty="0"/>
              <a:t>Qualidade de Software</a:t>
            </a:r>
          </a:p>
        </p:txBody>
      </p:sp>
      <p:sp>
        <p:nvSpPr>
          <p:cNvPr id="5" name="Marcador de texto 7">
            <a:extLst>
              <a:ext uri="{FF2B5EF4-FFF2-40B4-BE49-F238E27FC236}">
                <a16:creationId xmlns:a16="http://schemas.microsoft.com/office/drawing/2014/main" id="{6409EA1F-3CF5-91C0-66CB-03B5F2D6E133}"/>
              </a:ext>
            </a:extLst>
          </p:cNvPr>
          <p:cNvSpPr txBox="1">
            <a:spLocks/>
          </p:cNvSpPr>
          <p:nvPr/>
        </p:nvSpPr>
        <p:spPr>
          <a:xfrm>
            <a:off x="377378" y="1379638"/>
            <a:ext cx="8355142" cy="102133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0" indent="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412750" rtl="0" eaLnBrk="1" latinLnBrk="0" hangingPunct="1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  <a:defRPr sz="2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09563">
              <a:defRPr/>
            </a:pPr>
            <a:r>
              <a:rPr lang="pt-BR" sz="1800" b="0" dirty="0">
                <a:solidFill>
                  <a:sysClr val="window" lastClr="FFFFFF"/>
                </a:solidFill>
              </a:rPr>
              <a:t>Consolidado da Certificação| Nome da estória </a:t>
            </a:r>
          </a:p>
          <a:p>
            <a:pPr defTabSz="309563">
              <a:defRPr/>
            </a:pPr>
            <a:br>
              <a:rPr lang="pt-BR" sz="1800" b="0" dirty="0">
                <a:solidFill>
                  <a:sysClr val="window" lastClr="FFFFFF"/>
                </a:solidFill>
              </a:rPr>
            </a:br>
            <a:r>
              <a:rPr lang="pt-BR" sz="1800" b="0" dirty="0">
                <a:solidFill>
                  <a:sysClr val="window" lastClr="FFFFFF"/>
                </a:solidFill>
              </a:rPr>
              <a:t>Nome da </a:t>
            </a:r>
            <a:r>
              <a:rPr lang="pt-BR" sz="1800" b="0" dirty="0" err="1">
                <a:solidFill>
                  <a:sysClr val="window" lastClr="FFFFFF"/>
                </a:solidFill>
              </a:rPr>
              <a:t>Squad</a:t>
            </a:r>
            <a:endParaRPr lang="pt-BR" sz="1800" b="0" dirty="0">
              <a:solidFill>
                <a:sysClr val="window" lastClr="FFFFFF"/>
              </a:solidFill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D0FCDE6F-1CEA-1854-871A-9141546CA40D}"/>
              </a:ext>
            </a:extLst>
          </p:cNvPr>
          <p:cNvSpPr/>
          <p:nvPr/>
        </p:nvSpPr>
        <p:spPr>
          <a:xfrm>
            <a:off x="502920" y="3017520"/>
            <a:ext cx="1993392" cy="883196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2433E7D-F43A-D570-EA92-7184B49E0167}"/>
              </a:ext>
            </a:extLst>
          </p:cNvPr>
          <p:cNvSpPr/>
          <p:nvPr/>
        </p:nvSpPr>
        <p:spPr>
          <a:xfrm>
            <a:off x="502920" y="3090672"/>
            <a:ext cx="1993392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SQUAD</a:t>
            </a:r>
            <a:endParaRPr lang="en-US" sz="9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F2FF7D2-25B6-4191-F8B9-793BBF4FF47B}"/>
              </a:ext>
            </a:extLst>
          </p:cNvPr>
          <p:cNvSpPr/>
          <p:nvPr/>
        </p:nvSpPr>
        <p:spPr>
          <a:xfrm>
            <a:off x="542637" y="3216354"/>
            <a:ext cx="1961937" cy="578644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Nome da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squad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F902E60-1CC9-841A-54BB-BF6037380D78}"/>
              </a:ext>
            </a:extLst>
          </p:cNvPr>
          <p:cNvSpPr/>
          <p:nvPr/>
        </p:nvSpPr>
        <p:spPr>
          <a:xfrm>
            <a:off x="2679192" y="3017520"/>
            <a:ext cx="1993392" cy="883196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51408FB6-883D-EEF7-5A63-A925B24B1873}"/>
              </a:ext>
            </a:extLst>
          </p:cNvPr>
          <p:cNvSpPr/>
          <p:nvPr/>
        </p:nvSpPr>
        <p:spPr>
          <a:xfrm>
            <a:off x="2679192" y="3090672"/>
            <a:ext cx="1993392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Sprint </a:t>
            </a:r>
            <a:endParaRPr lang="en-US" sz="9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87993E9E-7D59-B9C0-C661-0071080024C4}"/>
              </a:ext>
            </a:extLst>
          </p:cNvPr>
          <p:cNvSpPr/>
          <p:nvPr/>
        </p:nvSpPr>
        <p:spPr>
          <a:xfrm>
            <a:off x="2679192" y="3364992"/>
            <a:ext cx="1993392" cy="37973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Sprint 24 - Jun/2025</a:t>
            </a:r>
            <a:endParaRPr lang="en-US" sz="11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54E3934-E3C0-057E-86C7-6E1A9AD4812A}"/>
              </a:ext>
            </a:extLst>
          </p:cNvPr>
          <p:cNvSpPr/>
          <p:nvPr/>
        </p:nvSpPr>
        <p:spPr>
          <a:xfrm>
            <a:off x="4855464" y="3017520"/>
            <a:ext cx="1993392" cy="883196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62C9100F-6F17-B6E5-3519-30A0109A10EA}"/>
              </a:ext>
            </a:extLst>
          </p:cNvPr>
          <p:cNvSpPr/>
          <p:nvPr/>
        </p:nvSpPr>
        <p:spPr>
          <a:xfrm>
            <a:off x="4855464" y="3090672"/>
            <a:ext cx="1993392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Versao</a:t>
            </a:r>
            <a:endParaRPr lang="en-US" sz="9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920CBFC2-49A0-0184-ADAB-EB8002CD78DE}"/>
              </a:ext>
            </a:extLst>
          </p:cNvPr>
          <p:cNvSpPr/>
          <p:nvPr/>
        </p:nvSpPr>
        <p:spPr>
          <a:xfrm>
            <a:off x="4855464" y="3364992"/>
            <a:ext cx="1993392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10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7FE532F-F670-E295-9A29-76194AF6907E}"/>
              </a:ext>
            </a:extLst>
          </p:cNvPr>
          <p:cNvSpPr/>
          <p:nvPr/>
        </p:nvSpPr>
        <p:spPr>
          <a:xfrm>
            <a:off x="7031736" y="3017520"/>
            <a:ext cx="1993392" cy="865956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42552323-278E-6FB6-133B-A8B0170685A1}"/>
              </a:ext>
            </a:extLst>
          </p:cNvPr>
          <p:cNvSpPr/>
          <p:nvPr/>
        </p:nvSpPr>
        <p:spPr>
          <a:xfrm>
            <a:off x="7031736" y="3090672"/>
            <a:ext cx="1993392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9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A3116D8-F050-BB60-9CD2-4F1B63B7C430}"/>
              </a:ext>
            </a:extLst>
          </p:cNvPr>
          <p:cNvSpPr/>
          <p:nvPr/>
        </p:nvSpPr>
        <p:spPr>
          <a:xfrm>
            <a:off x="7031736" y="3432436"/>
            <a:ext cx="1993392" cy="225164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Homologação</a:t>
            </a:r>
            <a:endParaRPr lang="en-US" sz="110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6168F536-D8C6-5D9C-21F3-4BAA2F307FC8}"/>
              </a:ext>
            </a:extLst>
          </p:cNvPr>
          <p:cNvSpPr/>
          <p:nvPr/>
        </p:nvSpPr>
        <p:spPr>
          <a:xfrm>
            <a:off x="502920" y="442390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: </a:t>
            </a:r>
            <a:r>
              <a:rPr lang="en-US" sz="850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xxxxxx</a:t>
            </a:r>
            <a:r>
              <a:rPr lang="en-US" sz="85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SM: XXXX   | PO: XXXX |  </a:t>
            </a:r>
            <a:r>
              <a:rPr lang="pt-BR" sz="850" noProof="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</a:t>
            </a:r>
            <a:r>
              <a:rPr lang="en-US" sz="85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Uso Interno</a:t>
            </a:r>
            <a:endParaRPr lang="en-US" sz="8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15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55448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64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TESTES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5120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B2D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consolidada da certificação</a:t>
            </a:r>
            <a:endParaRPr lang="pt-BR" sz="1000" noProof="0" dirty="0"/>
          </a:p>
        </p:txBody>
      </p:sp>
      <p:sp>
        <p:nvSpPr>
          <p:cNvPr id="6" name="Text 3"/>
          <p:cNvSpPr/>
          <p:nvPr/>
        </p:nvSpPr>
        <p:spPr>
          <a:xfrm>
            <a:off x="6858000" y="256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24 . Jun/2026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91440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005C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" y="12984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56032" y="18836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Planejado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432304" y="91440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00843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032" y="10058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32304" y="12984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</a:t>
            </a:r>
            <a:endParaRPr lang="en-US" sz="4000" dirty="0"/>
          </a:p>
        </p:txBody>
      </p:sp>
      <p:sp>
        <p:nvSpPr>
          <p:cNvPr id="14" name="Text 9"/>
          <p:cNvSpPr/>
          <p:nvPr/>
        </p:nvSpPr>
        <p:spPr>
          <a:xfrm>
            <a:off x="2432304" y="18836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Executados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608576" y="91440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D8A4E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100584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08576" y="12984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</a:t>
            </a:r>
            <a:endParaRPr lang="en-US" sz="4000" dirty="0"/>
          </a:p>
        </p:txBody>
      </p:sp>
      <p:sp>
        <p:nvSpPr>
          <p:cNvPr id="18" name="Text 12"/>
          <p:cNvSpPr/>
          <p:nvPr/>
        </p:nvSpPr>
        <p:spPr>
          <a:xfrm>
            <a:off x="4608576" y="18836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894576" y="932688"/>
            <a:ext cx="1965960" cy="1490472"/>
          </a:xfrm>
          <a:prstGeom prst="roundRect">
            <a:avLst>
              <a:gd name="adj" fmla="val 6452"/>
            </a:avLst>
          </a:prstGeom>
          <a:solidFill>
            <a:srgbClr val="7F8C8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8876" y="1010412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94576" y="13441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26" name="Text 18"/>
          <p:cNvSpPr/>
          <p:nvPr/>
        </p:nvSpPr>
        <p:spPr>
          <a:xfrm>
            <a:off x="6922008" y="191109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Despriorizados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271620" y="26060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67E2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348" y="2688336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71620" y="29443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30" name="Text 21"/>
          <p:cNvSpPr/>
          <p:nvPr/>
        </p:nvSpPr>
        <p:spPr>
          <a:xfrm>
            <a:off x="271620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Bugs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2447892" y="26060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C039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7620" y="2688336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447892" y="29443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34" name="Text 24"/>
          <p:cNvSpPr/>
          <p:nvPr/>
        </p:nvSpPr>
        <p:spPr>
          <a:xfrm>
            <a:off x="2447892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Críticos</a:t>
            </a:r>
            <a:endParaRPr lang="pt-BR" sz="950" noProof="0" dirty="0"/>
          </a:p>
        </p:txBody>
      </p:sp>
      <p:sp>
        <p:nvSpPr>
          <p:cNvPr id="35" name="Shape 25"/>
          <p:cNvSpPr/>
          <p:nvPr/>
        </p:nvSpPr>
        <p:spPr>
          <a:xfrm>
            <a:off x="4624164" y="26060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A6FA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892" y="2688336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624164" y="29443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3600" dirty="0"/>
          </a:p>
        </p:txBody>
      </p:sp>
      <p:sp>
        <p:nvSpPr>
          <p:cNvPr id="38" name="Text 27"/>
          <p:cNvSpPr/>
          <p:nvPr/>
        </p:nvSpPr>
        <p:spPr>
          <a:xfrm>
            <a:off x="4624164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256032" y="4160520"/>
            <a:ext cx="8631936" cy="749808"/>
          </a:xfrm>
          <a:prstGeom prst="roundRect">
            <a:avLst>
              <a:gd name="adj" fmla="val 9756"/>
            </a:avLst>
          </a:prstGeom>
          <a:solidFill>
            <a:srgbClr val="FEF5EC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" y="4279392"/>
            <a:ext cx="347472" cy="34747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1440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bugs </a:t>
            </a:r>
            <a:r>
              <a:rPr lang="pt-BR" sz="1100" noProof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3 altos em aberto. 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55448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64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POR HISTÓRIA/REQUISITO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5120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B2D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dos testes por área funcional do sistema</a:t>
            </a:r>
            <a:endParaRPr lang="pt-BR" sz="1000" noProof="0" dirty="0"/>
          </a:p>
        </p:txBody>
      </p:sp>
      <p:sp>
        <p:nvSpPr>
          <p:cNvPr id="6" name="Shape 3"/>
          <p:cNvSpPr/>
          <p:nvPr/>
        </p:nvSpPr>
        <p:spPr>
          <a:xfrm>
            <a:off x="256032" y="868680"/>
            <a:ext cx="2898648" cy="384048"/>
          </a:xfrm>
          <a:prstGeom prst="rect">
            <a:avLst/>
          </a:prstGeom>
          <a:solidFill>
            <a:srgbClr val="005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56032" y="86868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História/</a:t>
            </a:r>
            <a:r>
              <a:rPr lang="en-US" sz="9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Requisito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182112" y="868680"/>
            <a:ext cx="749808" cy="384048"/>
          </a:xfrm>
          <a:prstGeom prst="rect">
            <a:avLst/>
          </a:prstGeom>
          <a:solidFill>
            <a:srgbClr val="005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182112" y="8686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59352" y="868680"/>
            <a:ext cx="749808" cy="384048"/>
          </a:xfrm>
          <a:prstGeom prst="rect">
            <a:avLst/>
          </a:prstGeom>
          <a:solidFill>
            <a:srgbClr val="005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959352" y="8686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36592" y="868680"/>
            <a:ext cx="749808" cy="384048"/>
          </a:xfrm>
          <a:prstGeom prst="rect">
            <a:avLst/>
          </a:prstGeom>
          <a:solidFill>
            <a:srgbClr val="005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736592" y="8686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13832" y="868680"/>
            <a:ext cx="749808" cy="384048"/>
          </a:xfrm>
          <a:prstGeom prst="rect">
            <a:avLst/>
          </a:prstGeom>
          <a:solidFill>
            <a:srgbClr val="005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513832" y="8686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91072" y="868680"/>
            <a:ext cx="749808" cy="384048"/>
          </a:xfrm>
          <a:prstGeom prst="rect">
            <a:avLst/>
          </a:prstGeom>
          <a:solidFill>
            <a:srgbClr val="005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291072" y="8686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68312" y="868680"/>
            <a:ext cx="841248" cy="384048"/>
          </a:xfrm>
          <a:prstGeom prst="rect">
            <a:avLst/>
          </a:prstGeom>
          <a:solidFill>
            <a:srgbClr val="005C2B"/>
          </a:solidFill>
          <a:ln/>
        </p:spPr>
        <p:txBody>
          <a:bodyPr/>
          <a:lstStyle/>
          <a:p>
            <a:pPr algn="ctr"/>
            <a:endParaRPr lang="en-US" sz="4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algn="ctr"/>
            <a:r>
              <a:rPr lang="en-US" sz="9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Cobertura</a:t>
            </a:r>
            <a:endParaRPr lang="en-US" sz="9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56032" y="1252728"/>
            <a:ext cx="86319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320040" y="1252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Emissao de Apolices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182112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959352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36592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513832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291072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114032" y="13167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95,6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37744" y="1755648"/>
            <a:ext cx="8631936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0" name="Text 27"/>
          <p:cNvSpPr/>
          <p:nvPr/>
        </p:nvSpPr>
        <p:spPr>
          <a:xfrm>
            <a:off x="320040" y="1755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Gestao de Sinistros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182112" y="17556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959352" y="17556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736592" y="17556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513832" y="17556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291072" y="17556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37744" y="2290572"/>
            <a:ext cx="86319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9" name="Text 36"/>
          <p:cNvSpPr/>
          <p:nvPr/>
        </p:nvSpPr>
        <p:spPr>
          <a:xfrm>
            <a:off x="320040" y="2258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Calculo de Premio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182112" y="225856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959352" y="225856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736592" y="225856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513832" y="225856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291072" y="225856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114032" y="23225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95,2%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56032" y="2761488"/>
            <a:ext cx="8631936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8" name="Text 45"/>
          <p:cNvSpPr/>
          <p:nvPr/>
        </p:nvSpPr>
        <p:spPr>
          <a:xfrm>
            <a:off x="320040" y="2761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Corretor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3182112" y="276148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3959352" y="276148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4736592" y="276148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5513832" y="276148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291072" y="276148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256032" y="3264408"/>
            <a:ext cx="86319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4"/>
          <p:cNvSpPr/>
          <p:nvPr/>
        </p:nvSpPr>
        <p:spPr>
          <a:xfrm>
            <a:off x="320040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Integracao SUSEP / Regulat.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3182112" y="32644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3959352" y="32644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4736592" y="32644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5513832" y="32644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6291072" y="32644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7114032" y="3328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86,8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256032" y="3767328"/>
            <a:ext cx="8631936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6" name="Text 63"/>
          <p:cNvSpPr/>
          <p:nvPr/>
        </p:nvSpPr>
        <p:spPr>
          <a:xfrm>
            <a:off x="320040" y="3767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Renovacao Automatica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3182112" y="37673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3959352" y="37673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4736592" y="37673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50" dirty="0"/>
          </a:p>
        </p:txBody>
      </p:sp>
      <p:sp>
        <p:nvSpPr>
          <p:cNvPr id="70" name="Text 67"/>
          <p:cNvSpPr/>
          <p:nvPr/>
        </p:nvSpPr>
        <p:spPr>
          <a:xfrm>
            <a:off x="5513832" y="37673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6291072" y="37673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256032" y="4270248"/>
            <a:ext cx="8631936" cy="457200"/>
          </a:xfrm>
          <a:prstGeom prst="rect">
            <a:avLst/>
          </a:prstGeom>
          <a:solidFill>
            <a:srgbClr val="E8F5EE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72"/>
          <p:cNvSpPr/>
          <p:nvPr/>
        </p:nvSpPr>
        <p:spPr>
          <a:xfrm>
            <a:off x="320040" y="4270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3182112" y="42702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</a:t>
            </a:r>
            <a:endParaRPr lang="en-US" sz="950" dirty="0"/>
          </a:p>
        </p:txBody>
      </p:sp>
      <p:sp>
        <p:nvSpPr>
          <p:cNvPr id="77" name="Text 74"/>
          <p:cNvSpPr/>
          <p:nvPr/>
        </p:nvSpPr>
        <p:spPr>
          <a:xfrm>
            <a:off x="3959352" y="42702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</a:t>
            </a:r>
            <a:endParaRPr lang="en-US" sz="950" dirty="0"/>
          </a:p>
        </p:txBody>
      </p:sp>
      <p:sp>
        <p:nvSpPr>
          <p:cNvPr id="78" name="Text 75"/>
          <p:cNvSpPr/>
          <p:nvPr/>
        </p:nvSpPr>
        <p:spPr>
          <a:xfrm>
            <a:off x="4736592" y="42702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</a:t>
            </a:r>
            <a:endParaRPr lang="en-US" sz="950" dirty="0"/>
          </a:p>
        </p:txBody>
      </p:sp>
      <p:sp>
        <p:nvSpPr>
          <p:cNvPr id="79" name="Text 76"/>
          <p:cNvSpPr/>
          <p:nvPr/>
        </p:nvSpPr>
        <p:spPr>
          <a:xfrm>
            <a:off x="5513832" y="42702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6291072" y="42702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83" name="Text 80"/>
          <p:cNvSpPr/>
          <p:nvPr/>
        </p:nvSpPr>
        <p:spPr>
          <a:xfrm>
            <a:off x="256032" y="47731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Legenda: 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4114800" y="47731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Desp. = Despriorizados (fora de </a:t>
            </a:r>
            <a:r>
              <a:rPr lang="en-US" sz="80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</a:t>
            </a: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80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Alinhado</a:t>
            </a: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PO)</a:t>
            </a:r>
            <a:endParaRPr lang="en-US" sz="80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5C1E5C2D-7B87-26D9-7F1B-172E0B7576F2}"/>
              </a:ext>
            </a:extLst>
          </p:cNvPr>
          <p:cNvSpPr/>
          <p:nvPr/>
        </p:nvSpPr>
        <p:spPr>
          <a:xfrm>
            <a:off x="7100316" y="18425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81,1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  <p:sp>
        <p:nvSpPr>
          <p:cNvPr id="54" name="Text 43">
            <a:extLst>
              <a:ext uri="{FF2B5EF4-FFF2-40B4-BE49-F238E27FC236}">
                <a16:creationId xmlns:a16="http://schemas.microsoft.com/office/drawing/2014/main" id="{65B416EF-F62A-85E7-EA66-C3846FCD9A2C}"/>
              </a:ext>
            </a:extLst>
          </p:cNvPr>
          <p:cNvSpPr/>
          <p:nvPr/>
        </p:nvSpPr>
        <p:spPr>
          <a:xfrm>
            <a:off x="7132320" y="2826851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90,9%</a:t>
            </a:r>
            <a:endParaRPr lang="en-US" sz="900" dirty="0"/>
          </a:p>
        </p:txBody>
      </p:sp>
      <p:sp>
        <p:nvSpPr>
          <p:cNvPr id="73" name="Text 61">
            <a:extLst>
              <a:ext uri="{FF2B5EF4-FFF2-40B4-BE49-F238E27FC236}">
                <a16:creationId xmlns:a16="http://schemas.microsoft.com/office/drawing/2014/main" id="{622D8278-0DA5-6DA9-8EDE-6FC42BADD3EE}"/>
              </a:ext>
            </a:extLst>
          </p:cNvPr>
          <p:cNvSpPr/>
          <p:nvPr/>
        </p:nvSpPr>
        <p:spPr>
          <a:xfrm>
            <a:off x="7132320" y="38313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85,7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  <p:sp>
        <p:nvSpPr>
          <p:cNvPr id="82" name="Text 61">
            <a:extLst>
              <a:ext uri="{FF2B5EF4-FFF2-40B4-BE49-F238E27FC236}">
                <a16:creationId xmlns:a16="http://schemas.microsoft.com/office/drawing/2014/main" id="{DB8EEFE6-D6CD-35B4-4E32-AACEE5CE9219}"/>
              </a:ext>
            </a:extLst>
          </p:cNvPr>
          <p:cNvSpPr/>
          <p:nvPr/>
        </p:nvSpPr>
        <p:spPr>
          <a:xfrm>
            <a:off x="7132320" y="43342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89,1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0"/>
            <a:ext cx="914400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55448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64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DEFEITOS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5120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abertos classificados por severidade . Sprint 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6032" y="8686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56032" y="868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Criticos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50592" y="8686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450592" y="868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Altos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45152" y="8686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7F8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645152" y="868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Medios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39712" y="8686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A6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839712" y="868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Baixos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6032" y="1344168"/>
            <a:ext cx="603504" cy="347472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56032" y="1344168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96112" y="1344168"/>
            <a:ext cx="2432304" cy="347472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96112" y="13441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Descricao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64992" y="1344168"/>
            <a:ext cx="923544" cy="347472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364992" y="1344168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325112" y="1344168"/>
            <a:ext cx="1380744" cy="347472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1" name="Text 18"/>
          <p:cNvSpPr/>
          <p:nvPr/>
        </p:nvSpPr>
        <p:spPr>
          <a:xfrm>
            <a:off x="4325112" y="1344168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História/requisito</a:t>
            </a:r>
            <a:endParaRPr lang="pt-BR" sz="850" noProof="0" dirty="0"/>
          </a:p>
        </p:txBody>
      </p:sp>
      <p:sp>
        <p:nvSpPr>
          <p:cNvPr id="22" name="Shape 19"/>
          <p:cNvSpPr/>
          <p:nvPr/>
        </p:nvSpPr>
        <p:spPr>
          <a:xfrm>
            <a:off x="5742432" y="1344168"/>
            <a:ext cx="877824" cy="347472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3" name="Text 20"/>
          <p:cNvSpPr/>
          <p:nvPr/>
        </p:nvSpPr>
        <p:spPr>
          <a:xfrm>
            <a:off x="5742432" y="134416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- SN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656832" y="1344168"/>
            <a:ext cx="877824" cy="347472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656832" y="134416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571232" y="1344168"/>
            <a:ext cx="1609344" cy="347472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7571232" y="134416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no Negocio</a:t>
            </a:r>
            <a:endParaRPr lang="pt-BR" sz="850" noProof="0" dirty="0"/>
          </a:p>
        </p:txBody>
      </p:sp>
      <p:sp>
        <p:nvSpPr>
          <p:cNvPr id="28" name="Shape 25"/>
          <p:cNvSpPr/>
          <p:nvPr/>
        </p:nvSpPr>
        <p:spPr>
          <a:xfrm>
            <a:off x="256032" y="1691640"/>
            <a:ext cx="88879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274320" y="1691640"/>
            <a:ext cx="603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14400" y="1691640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Emissao duplicada de apolice ao reprocessar pagamento negado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383280" y="1746504"/>
            <a:ext cx="886968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3383280" y="17465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343400" y="1691640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Emissao de Apolices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760720" y="1691640"/>
            <a:ext cx="868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A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DFCT0017000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675120" y="17465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6675120" y="17465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Correcao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589520" y="1691640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regulatorio SUSEP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256032" y="2121408"/>
            <a:ext cx="8887968" cy="3931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274320" y="2121408"/>
            <a:ext cx="603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BUG-002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914400" y="2121408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Calculo de premio ignora tabela de agravamento perfil +65 anos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383280" y="2176272"/>
            <a:ext cx="886968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9"/>
          <p:cNvSpPr/>
          <p:nvPr/>
        </p:nvSpPr>
        <p:spPr>
          <a:xfrm>
            <a:off x="3383280" y="217627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343400" y="212140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Calculo de Premio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760720" y="2121408"/>
            <a:ext cx="868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A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DFCT0017000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675120" y="2176272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3"/>
          <p:cNvSpPr/>
          <p:nvPr/>
        </p:nvSpPr>
        <p:spPr>
          <a:xfrm>
            <a:off x="6675120" y="2176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Aberto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7589520" y="2121408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Prejuizo financeiro direto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256032" y="2551176"/>
            <a:ext cx="88879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9" name="Text 46"/>
          <p:cNvSpPr/>
          <p:nvPr/>
        </p:nvSpPr>
        <p:spPr>
          <a:xfrm>
            <a:off x="274320" y="2551176"/>
            <a:ext cx="603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BUG-003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914400" y="2551176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Corretor: contrato nao carrega em Firefox/Safari (CORS error)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3383280" y="2606040"/>
            <a:ext cx="886968" cy="27432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49"/>
          <p:cNvSpPr/>
          <p:nvPr/>
        </p:nvSpPr>
        <p:spPr>
          <a:xfrm>
            <a:off x="3383280" y="26060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4343400" y="2551176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Corretor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5760720" y="2551176"/>
            <a:ext cx="868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A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DFCT0017000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675120" y="260604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3"/>
          <p:cNvSpPr/>
          <p:nvPr/>
        </p:nvSpPr>
        <p:spPr>
          <a:xfrm>
            <a:off x="6675120" y="2606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Analise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7589520" y="2551176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canal de vendas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256032" y="2980944"/>
            <a:ext cx="8887968" cy="3931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9" name="Text 56"/>
          <p:cNvSpPr/>
          <p:nvPr/>
        </p:nvSpPr>
        <p:spPr>
          <a:xfrm>
            <a:off x="274320" y="2980944"/>
            <a:ext cx="603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BUG-004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914400" y="2980944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SUSEP: timeout em lote acima de 500 registros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3383280" y="3035808"/>
            <a:ext cx="886968" cy="27432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59"/>
          <p:cNvSpPr/>
          <p:nvPr/>
        </p:nvSpPr>
        <p:spPr>
          <a:xfrm>
            <a:off x="3383280" y="303580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343400" y="2980944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Integracao SUSEP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5760720" y="2980944"/>
            <a:ext cx="868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A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DFCT0017000</a:t>
            </a:r>
            <a:endParaRPr lang="en-US" sz="800" dirty="0"/>
          </a:p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6675120" y="303580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3"/>
          <p:cNvSpPr/>
          <p:nvPr/>
        </p:nvSpPr>
        <p:spPr>
          <a:xfrm>
            <a:off x="6675120" y="30358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Aberto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7589520" y="2980944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Descumprimento regulatorio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256032" y="3410712"/>
            <a:ext cx="88879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6"/>
          <p:cNvSpPr/>
          <p:nvPr/>
        </p:nvSpPr>
        <p:spPr>
          <a:xfrm>
            <a:off x="274320" y="3410712"/>
            <a:ext cx="603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BUG-005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914400" y="3410712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Sinistro fecha automaticamente sem validacao do perito responsavel</a:t>
            </a:r>
            <a:endParaRPr lang="en-US" sz="750" dirty="0"/>
          </a:p>
        </p:txBody>
      </p:sp>
      <p:sp>
        <p:nvSpPr>
          <p:cNvPr id="71" name="Shape 68"/>
          <p:cNvSpPr/>
          <p:nvPr/>
        </p:nvSpPr>
        <p:spPr>
          <a:xfrm>
            <a:off x="3383280" y="3465576"/>
            <a:ext cx="886968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69"/>
          <p:cNvSpPr/>
          <p:nvPr/>
        </p:nvSpPr>
        <p:spPr>
          <a:xfrm>
            <a:off x="3383280" y="346557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343400" y="3410712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Gestao de Sinistros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5760720" y="3410712"/>
            <a:ext cx="868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A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DFCT0017000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6675120" y="346557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Text 73"/>
          <p:cNvSpPr/>
          <p:nvPr/>
        </p:nvSpPr>
        <p:spPr>
          <a:xfrm>
            <a:off x="6675120" y="34655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Aberto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589520" y="3410712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 / auditoria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256032" y="3840480"/>
            <a:ext cx="8887968" cy="3931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Text 76"/>
          <p:cNvSpPr/>
          <p:nvPr/>
        </p:nvSpPr>
        <p:spPr>
          <a:xfrm>
            <a:off x="274320" y="3840480"/>
            <a:ext cx="603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BUG-006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914400" y="3840480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50" noProof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Renovação</a:t>
            </a: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automatica nao respeita carencia de 30 dias pos-cancelamento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3383280" y="3895344"/>
            <a:ext cx="886968" cy="27432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79"/>
          <p:cNvSpPr/>
          <p:nvPr/>
        </p:nvSpPr>
        <p:spPr>
          <a:xfrm>
            <a:off x="3383280" y="389534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343400" y="3840480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Renovação</a:t>
            </a: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Automatica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5760720" y="3840480"/>
            <a:ext cx="868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A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DFCT0017000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6675120" y="38039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6" name="Text 83"/>
          <p:cNvSpPr/>
          <p:nvPr/>
        </p:nvSpPr>
        <p:spPr>
          <a:xfrm>
            <a:off x="6675120" y="38953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</a:t>
            </a:r>
            <a:r>
              <a:rPr lang="en-US" sz="750" b="1" dirty="0" err="1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Correção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7589520" y="3840480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Penalidade contratual</a:t>
            </a:r>
            <a:endParaRPr lang="en-US" sz="750" dirty="0"/>
          </a:p>
        </p:txBody>
      </p:sp>
      <p:sp>
        <p:nvSpPr>
          <p:cNvPr id="88" name="Shape 85"/>
          <p:cNvSpPr/>
          <p:nvPr/>
        </p:nvSpPr>
        <p:spPr>
          <a:xfrm>
            <a:off x="256032" y="4270248"/>
            <a:ext cx="888796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9" name="Text 86"/>
          <p:cNvSpPr/>
          <p:nvPr/>
        </p:nvSpPr>
        <p:spPr>
          <a:xfrm>
            <a:off x="274320" y="4270248"/>
            <a:ext cx="603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BUG-007</a:t>
            </a:r>
            <a:endParaRPr lang="en-US" sz="800" dirty="0"/>
          </a:p>
        </p:txBody>
      </p:sp>
      <p:sp>
        <p:nvSpPr>
          <p:cNvPr id="90" name="Text 87"/>
          <p:cNvSpPr/>
          <p:nvPr/>
        </p:nvSpPr>
        <p:spPr>
          <a:xfrm>
            <a:off x="914400" y="4270248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Valor Segurado aceita valor negativo sem validacao</a:t>
            </a:r>
            <a:endParaRPr lang="en-US" sz="750" dirty="0"/>
          </a:p>
        </p:txBody>
      </p:sp>
      <p:sp>
        <p:nvSpPr>
          <p:cNvPr id="91" name="Shape 88"/>
          <p:cNvSpPr/>
          <p:nvPr/>
        </p:nvSpPr>
        <p:spPr>
          <a:xfrm>
            <a:off x="3383280" y="4325112"/>
            <a:ext cx="886968" cy="274320"/>
          </a:xfrm>
          <a:prstGeom prst="roundRect">
            <a:avLst>
              <a:gd name="adj" fmla="val 16667"/>
            </a:avLst>
          </a:prstGeom>
          <a:solidFill>
            <a:srgbClr val="7F8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Text 89"/>
          <p:cNvSpPr/>
          <p:nvPr/>
        </p:nvSpPr>
        <p:spPr>
          <a:xfrm>
            <a:off x="3383280" y="432511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750" dirty="0"/>
          </a:p>
        </p:txBody>
      </p:sp>
      <p:sp>
        <p:nvSpPr>
          <p:cNvPr id="93" name="Text 90"/>
          <p:cNvSpPr/>
          <p:nvPr/>
        </p:nvSpPr>
        <p:spPr>
          <a:xfrm>
            <a:off x="4343400" y="4270248"/>
            <a:ext cx="1362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Emissao de Apolices</a:t>
            </a:r>
            <a:endParaRPr lang="en-US" sz="750" dirty="0"/>
          </a:p>
        </p:txBody>
      </p:sp>
      <p:sp>
        <p:nvSpPr>
          <p:cNvPr id="94" name="Text 91"/>
          <p:cNvSpPr/>
          <p:nvPr/>
        </p:nvSpPr>
        <p:spPr>
          <a:xfrm>
            <a:off x="5760720" y="4270248"/>
            <a:ext cx="868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A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DFCT0017000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6675120" y="4325112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6" name="Text 93"/>
          <p:cNvSpPr/>
          <p:nvPr/>
        </p:nvSpPr>
        <p:spPr>
          <a:xfrm>
            <a:off x="6675120" y="4325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Aberto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7589520" y="4270248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Inconsistencia de dados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55448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645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DOS BUGS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5120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noProof="0" dirty="0">
                <a:solidFill>
                  <a:srgbClr val="B2D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BUG-001 - Emissão Duplicada de Apólice</a:t>
            </a:r>
            <a:endParaRPr lang="pt-BR" sz="1000" noProof="0" dirty="0"/>
          </a:p>
        </p:txBody>
      </p:sp>
      <p:sp>
        <p:nvSpPr>
          <p:cNvPr id="6" name="Shape 3"/>
          <p:cNvSpPr/>
          <p:nvPr/>
        </p:nvSpPr>
        <p:spPr>
          <a:xfrm>
            <a:off x="256032" y="868680"/>
            <a:ext cx="8631936" cy="475488"/>
          </a:xfrm>
          <a:prstGeom prst="roundRect">
            <a:avLst>
              <a:gd name="adj" fmla="val 15385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11480" y="8686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</a:t>
            </a:r>
            <a:r>
              <a:rPr lang="pt-BR" sz="1050" noProof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emite apólice duplicada ao reprocessar pagamento negado pela operadora de cartão.</a:t>
            </a:r>
            <a:endParaRPr lang="pt-BR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256032" y="1444752"/>
            <a:ext cx="863193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0084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29184" y="1554480"/>
            <a:ext cx="384048" cy="384048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2918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5528" y="1481328"/>
            <a:ext cx="7973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apolice foi emitida duas vezes?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5528" y="1746504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API de emissão foi chamada novamente de pagamento sem verificar se a apólice já existia.</a:t>
            </a:r>
            <a:endParaRPr lang="pt-BR" sz="900" noProof="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01368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6032" y="2148840"/>
            <a:ext cx="863193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0084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329184" y="2258568"/>
            <a:ext cx="384048" cy="384048"/>
          </a:xfrm>
          <a:prstGeom prst="ellipse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329184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95528" y="2185416"/>
            <a:ext cx="7973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API nao verificou apolice existente?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95528" y="2450592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endpoint de emissao nao implementa controle de idempotencia (ausencia de idempotency-key).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05456"/>
            <a:ext cx="201168" cy="20116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56032" y="2852928"/>
            <a:ext cx="863193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329184" y="2962656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/>
          <p:nvPr/>
        </p:nvSpPr>
        <p:spPr>
          <a:xfrm>
            <a:off x="329184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3o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95528" y="2889504"/>
            <a:ext cx="7973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nao ha controle de idempotencia?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5528" y="3154680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requisito de reprocessamento foi adicionado na sprint 20 sem revisao do contrato da API.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09544"/>
            <a:ext cx="201168" cy="20116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256032" y="3557016"/>
            <a:ext cx="863193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1"/>
          <p:cNvSpPr/>
          <p:nvPr/>
        </p:nvSpPr>
        <p:spPr>
          <a:xfrm>
            <a:off x="329184" y="3666744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329184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4o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95528" y="3593592"/>
            <a:ext cx="7973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requisito nao revisou o contrato da API?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95528" y="3858768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existe processo formal de analise de impacto tecnico para novos requisitos de retry/pagamento.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913632"/>
            <a:ext cx="201168" cy="20116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256032" y="4261104"/>
            <a:ext cx="863193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26"/>
          <p:cNvSpPr/>
          <p:nvPr/>
        </p:nvSpPr>
        <p:spPr>
          <a:xfrm>
            <a:off x="329184" y="4370832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7"/>
          <p:cNvSpPr/>
          <p:nvPr/>
        </p:nvSpPr>
        <p:spPr>
          <a:xfrm>
            <a:off x="329184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5o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795528" y="4297680"/>
            <a:ext cx="7973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nao existe esse processo?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95528" y="4562856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RAIZ: Ausencia de Definition of Ready com checklist de impacto em integracoes financeiras criticas.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644</Words>
  <Application>Microsoft Office PowerPoint</Application>
  <PresentationFormat>Apresentação na tela (16:9)</PresentationFormat>
  <Paragraphs>179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Relatorio QA BrasilSeg</dc:title>
  <dc:subject>PptxGenJS Presentation</dc:subject>
  <dc:creator>PptxGenJS</dc:creator>
  <cp:lastModifiedBy>Crys .</cp:lastModifiedBy>
  <cp:revision>17</cp:revision>
  <dcterms:created xsi:type="dcterms:W3CDTF">2026-06-24T12:40:54Z</dcterms:created>
  <dcterms:modified xsi:type="dcterms:W3CDTF">2026-07-29T12:59:16Z</dcterms:modified>
</cp:coreProperties>
</file>